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80" r:id="rId1"/>
  </p:sldMasterIdLst>
  <p:notesMasterIdLst>
    <p:notesMasterId r:id="rId22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64" autoAdjust="0"/>
    <p:restoredTop sz="94660"/>
  </p:normalViewPr>
  <p:slideViewPr>
    <p:cSldViewPr snapToGrid="0">
      <p:cViewPr varScale="1">
        <p:scale>
          <a:sx n="95" d="100"/>
          <a:sy n="95" d="100"/>
        </p:scale>
        <p:origin x="8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</pc:sldChg>
    </pc:docChg>
  </pc:docChgLst>
  <pc:docChgLst>
    <pc:chgData name="Aman Shrivastava" userId="S::ashrivastava@edunetfoundation.org::c21995ab-fa37-4cde-b5a3-dec0fb9e9a10" providerId="AD" clId="Web-{E27D249D-B118-0810-7731-E1B1C378D9D3}"/>
    <pc:docChg chg="modSld">
      <pc:chgData name="Aman Shrivastava" userId="S::ashrivastava@edunetfoundation.org::c21995ab-fa37-4cde-b5a3-dec0fb9e9a10" providerId="AD" clId="Web-{E27D249D-B118-0810-7731-E1B1C378D9D3}" dt="2026-06-19T09:09:54.163" v="1" actId="20577"/>
      <pc:docMkLst>
        <pc:docMk/>
      </pc:docMkLst>
      <pc:sldChg chg="modSp">
        <pc:chgData name="Aman Shrivastava" userId="S::ashrivastava@edunetfoundation.org::c21995ab-fa37-4cde-b5a3-dec0fb9e9a10" providerId="AD" clId="Web-{E27D249D-B118-0810-7731-E1B1C378D9D3}" dt="2026-06-19T09:09:54.163" v="1" actId="20577"/>
        <pc:sldMkLst>
          <pc:docMk/>
          <pc:sldMk cId="3764405840" sldId="278"/>
        </pc:sldMkLst>
        <pc:spChg chg="mod">
          <ac:chgData name="Aman Shrivastava" userId="S::ashrivastava@edunetfoundation.org::c21995ab-fa37-4cde-b5a3-dec0fb9e9a10" providerId="AD" clId="Web-{E27D249D-B118-0810-7731-E1B1C378D9D3}" dt="2026-06-19T09:09:54.163" v="1" actId="20577"/>
          <ac:spMkLst>
            <pc:docMk/>
            <pc:sldMk cId="3764405840" sldId="278"/>
            <ac:spMk id="3" creationId="{4A7608B5-9906-EFCF-959A-E89FC2E3EE19}"/>
          </ac:spMkLst>
        </pc:spChg>
      </pc:sldChg>
    </pc:docChg>
  </pc:docChgLst>
  <pc:docChgLst>
    <pc:chgData name="Bhupesh Vyankat Ther" userId="S::bvther@edunetfoundation.org::3dcf1697-dd97-45f9-859f-b5bba4487417" providerId="AD" clId="Web-{9DDCDCB8-E336-06C9-9BC1-C212CD122CD0}"/>
    <pc:docChg chg="modSld">
      <pc:chgData name="Bhupesh Vyankat Ther" userId="S::bvther@edunetfoundation.org::3dcf1697-dd97-45f9-859f-b5bba4487417" providerId="AD" clId="Web-{9DDCDCB8-E336-06C9-9BC1-C212CD122CD0}" dt="2026-06-23T04:41:50.196" v="0" actId="1076"/>
      <pc:docMkLst>
        <pc:docMk/>
      </pc:docMkLst>
      <pc:sldChg chg="modSp">
        <pc:chgData name="Bhupesh Vyankat Ther" userId="S::bvther@edunetfoundation.org::3dcf1697-dd97-45f9-859f-b5bba4487417" providerId="AD" clId="Web-{9DDCDCB8-E336-06C9-9BC1-C212CD122CD0}" dt="2026-06-23T04:41:50.196" v="0" actId="1076"/>
        <pc:sldMkLst>
          <pc:docMk/>
          <pc:sldMk cId="1229047658" sldId="288"/>
        </pc:sldMkLst>
        <pc:picChg chg="mod">
          <ac:chgData name="Bhupesh Vyankat Ther" userId="S::bvther@edunetfoundation.org::3dcf1697-dd97-45f9-859f-b5bba4487417" providerId="AD" clId="Web-{9DDCDCB8-E336-06C9-9BC1-C212CD122CD0}" dt="2026-06-23T04:41:50.196" v="0" actId="1076"/>
          <ac:picMkLst>
            <pc:docMk/>
            <pc:sldMk cId="1229047658" sldId="288"/>
            <ac:picMk id="4" creationId="{A037CFD0-B7FF-D9BE-3433-88E5844EF332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5597DED7-87E9-8FFE-C42B-07F44890EE69}"/>
    <pc:docChg chg="addSld delSld">
      <pc:chgData name="Aswini Kumar Motapothula" userId="S::aswinikumar@edunetfoundation.org::8849ae8d-bc89-4217-899c-9440ffcae5bb" providerId="AD" clId="Web-{5597DED7-87E9-8FFE-C42B-07F44890EE69}" dt="2026-07-14T12:42:56.737" v="35"/>
      <pc:docMkLst>
        <pc:docMk/>
      </pc:docMkLst>
      <pc:sldChg chg="del">
        <pc:chgData name="Aswini Kumar Motapothula" userId="S::aswinikumar@edunetfoundation.org::8849ae8d-bc89-4217-899c-9440ffcae5bb" providerId="AD" clId="Web-{5597DED7-87E9-8FFE-C42B-07F44890EE69}" dt="2026-07-14T12:42:56.737" v="35"/>
        <pc:sldMkLst>
          <pc:docMk/>
          <pc:sldMk cId="0" sldId="25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9"/>
        <pc:sldMkLst>
          <pc:docMk/>
          <pc:sldMk cId="0" sldId="26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8"/>
        <pc:sldMkLst>
          <pc:docMk/>
          <pc:sldMk cId="0" sldId="264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1"/>
        <pc:sldMkLst>
          <pc:docMk/>
          <pc:sldMk cId="0" sldId="27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7"/>
        <pc:sldMkLst>
          <pc:docMk/>
          <pc:sldMk cId="2115484872" sldId="27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2"/>
        <pc:sldMkLst>
          <pc:docMk/>
          <pc:sldMk cId="3764405840" sldId="27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0"/>
        <pc:sldMkLst>
          <pc:docMk/>
          <pc:sldMk cId="2772501912" sldId="279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4"/>
        <pc:sldMkLst>
          <pc:docMk/>
          <pc:sldMk cId="2136706720" sldId="280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1"/>
        <pc:sldMkLst>
          <pc:docMk/>
          <pc:sldMk cId="328526394" sldId="281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4"/>
        <pc:sldMkLst>
          <pc:docMk/>
          <pc:sldMk cId="2952584201" sldId="28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42.455" v="20"/>
        <pc:sldMkLst>
          <pc:docMk/>
          <pc:sldMk cId="957564641" sldId="283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3"/>
        <pc:sldMkLst>
          <pc:docMk/>
          <pc:sldMk cId="2290294991" sldId="285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6"/>
        <pc:sldMkLst>
          <pc:docMk/>
          <pc:sldMk cId="917964102" sldId="28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5"/>
        <pc:sldMkLst>
          <pc:docMk/>
          <pc:sldMk cId="2605851928" sldId="28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3"/>
        <pc:sldMkLst>
          <pc:docMk/>
          <pc:sldMk cId="1229047658" sldId="28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2"/>
        <pc:sldMkLst>
          <pc:docMk/>
          <pc:sldMk cId="2506610743" sldId="28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157" v="0"/>
        <pc:sldMkLst>
          <pc:docMk/>
          <pc:sldMk cId="3828559527" sldId="29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04" v="1"/>
        <pc:sldMkLst>
          <pc:docMk/>
          <pc:sldMk cId="952317876" sldId="29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66" v="2"/>
        <pc:sldMkLst>
          <pc:docMk/>
          <pc:sldMk cId="261653373" sldId="29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13" v="3"/>
        <pc:sldMkLst>
          <pc:docMk/>
          <pc:sldMk cId="619459906" sldId="29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60" v="4"/>
        <pc:sldMkLst>
          <pc:docMk/>
          <pc:sldMk cId="443603904" sldId="29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563" v="5"/>
        <pc:sldMkLst>
          <pc:docMk/>
          <pc:sldMk cId="3114963633" sldId="29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735" v="6"/>
        <pc:sldMkLst>
          <pc:docMk/>
          <pc:sldMk cId="1316545553" sldId="29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923" v="7"/>
        <pc:sldMkLst>
          <pc:docMk/>
          <pc:sldMk cId="232371894" sldId="29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094" v="8"/>
        <pc:sldMkLst>
          <pc:docMk/>
          <pc:sldMk cId="445195169" sldId="29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235" v="9"/>
        <pc:sldMkLst>
          <pc:docMk/>
          <pc:sldMk cId="4000696967" sldId="29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345" v="10"/>
        <pc:sldMkLst>
          <pc:docMk/>
          <pc:sldMk cId="893417001" sldId="30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548" v="11"/>
        <pc:sldMkLst>
          <pc:docMk/>
          <pc:sldMk cId="1429961814" sldId="30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704" v="12"/>
        <pc:sldMkLst>
          <pc:docMk/>
          <pc:sldMk cId="3585092305" sldId="30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876" v="13"/>
        <pc:sldMkLst>
          <pc:docMk/>
          <pc:sldMk cId="2601907186" sldId="30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38" v="14"/>
        <pc:sldMkLst>
          <pc:docMk/>
          <pc:sldMk cId="2325282270" sldId="30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70" v="15"/>
        <pc:sldMkLst>
          <pc:docMk/>
          <pc:sldMk cId="4040412275" sldId="30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016" v="16"/>
        <pc:sldMkLst>
          <pc:docMk/>
          <pc:sldMk cId="740028465" sldId="30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157" v="17"/>
        <pc:sldMkLst>
          <pc:docMk/>
          <pc:sldMk cId="2833482715" sldId="30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282" v="18"/>
        <pc:sldMkLst>
          <pc:docMk/>
          <pc:sldMk cId="4175177701" sldId="30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391" v="19"/>
        <pc:sldMkLst>
          <pc:docMk/>
          <pc:sldMk cId="1440137342" sldId="309"/>
        </pc:sldMkLst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  <pc:docChgLst>
    <pc:chgData name="Aman Shrivastava" userId="S::ashrivastava@edunetfoundation.org::c21995ab-fa37-4cde-b5a3-dec0fb9e9a10" providerId="AD" clId="Web-{A6B9108B-7598-1D50-C4AA-8A38026DAEEF}"/>
    <pc:docChg chg="modSld">
      <pc:chgData name="Aman Shrivastava" userId="S::ashrivastava@edunetfoundation.org::c21995ab-fa37-4cde-b5a3-dec0fb9e9a10" providerId="AD" clId="Web-{A6B9108B-7598-1D50-C4AA-8A38026DAEEF}" dt="2026-06-19T06:56:18.840" v="15" actId="20577"/>
      <pc:docMkLst>
        <pc:docMk/>
      </pc:docMkLst>
      <pc:sldChg chg="modSp">
        <pc:chgData name="Aman Shrivastava" userId="S::ashrivastava@edunetfoundation.org::c21995ab-fa37-4cde-b5a3-dec0fb9e9a10" providerId="AD" clId="Web-{A6B9108B-7598-1D50-C4AA-8A38026DAEEF}" dt="2026-06-19T06:56:18.840" v="15" actId="20577"/>
        <pc:sldMkLst>
          <pc:docMk/>
          <pc:sldMk cId="2605851928" sldId="287"/>
        </pc:sldMkLst>
        <pc:spChg chg="mod">
          <ac:chgData name="Aman Shrivastava" userId="S::ashrivastava@edunetfoundation.org::c21995ab-fa37-4cde-b5a3-dec0fb9e9a10" providerId="AD" clId="Web-{A6B9108B-7598-1D50-C4AA-8A38026DAEEF}" dt="2026-06-19T06:56:18.840" v="15" actId="20577"/>
          <ac:spMkLst>
            <pc:docMk/>
            <pc:sldMk cId="2605851928" sldId="287"/>
            <ac:spMk id="279" creationId="{3711AF54-94A6-B837-31EF-9A8C4ECB9AF6}"/>
          </ac:spMkLst>
        </pc:spChg>
      </pc:sldChg>
      <pc:sldChg chg="addSp delSp modSp">
        <pc:chgData name="Aman Shrivastava" userId="S::ashrivastava@edunetfoundation.org::c21995ab-fa37-4cde-b5a3-dec0fb9e9a10" providerId="AD" clId="Web-{A6B9108B-7598-1D50-C4AA-8A38026DAEEF}" dt="2026-06-19T06:56:04.356" v="13" actId="1076"/>
        <pc:sldMkLst>
          <pc:docMk/>
          <pc:sldMk cId="1229047658" sldId="288"/>
        </pc:sldMkLst>
        <pc:picChg chg="add mod">
          <ac:chgData name="Aman Shrivastava" userId="S::ashrivastava@edunetfoundation.org::c21995ab-fa37-4cde-b5a3-dec0fb9e9a10" providerId="AD" clId="Web-{A6B9108B-7598-1D50-C4AA-8A38026DAEEF}" dt="2026-06-19T06:56:04.356" v="13" actId="1076"/>
          <ac:picMkLst>
            <pc:docMk/>
            <pc:sldMk cId="1229047658" sldId="288"/>
            <ac:picMk id="4" creationId="{A037CFD0-B7FF-D9BE-3433-88E5844EF332}"/>
          </ac:picMkLst>
        </pc:picChg>
      </pc:sldChg>
      <pc:sldChg chg="addSp delSp modSp">
        <pc:chgData name="Aman Shrivastava" userId="S::ashrivastava@edunetfoundation.org::c21995ab-fa37-4cde-b5a3-dec0fb9e9a10" providerId="AD" clId="Web-{A6B9108B-7598-1D50-C4AA-8A38026DAEEF}" dt="2026-06-19T06:53:17.010" v="3"/>
        <pc:sldMkLst>
          <pc:docMk/>
          <pc:sldMk cId="2506610743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80663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04997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29940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823271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869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781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59292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50490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40002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78116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65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59250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8309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28386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70688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24387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49806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6372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2165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1250843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19908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595615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491200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028194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069065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9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6800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09552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3508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373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  <p:sldLayoutId id="2147483798" r:id="rId18"/>
    <p:sldLayoutId id="2147483799" r:id="rId19"/>
    <p:sldLayoutId id="2147483800" r:id="rId20"/>
    <p:sldLayoutId id="2147483801" r:id="rId21"/>
    <p:sldLayoutId id="2147483802" r:id="rId22"/>
    <p:sldLayoutId id="2147483803" r:id="rId23"/>
    <p:sldLayoutId id="2147483804" r:id="rId24"/>
    <p:sldLayoutId id="2147483805" r:id="rId25"/>
    <p:sldLayoutId id="2147483806" r:id="rId26"/>
    <p:sldLayoutId id="2147483807" r:id="rId27"/>
    <p:sldLayoutId id="2147483808" r:id="rId28"/>
    <p:sldLayoutId id="2147483809" r:id="rId29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ndugaArunkumar/ai-travel-agen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Relationship Id="rId4" Type="http://schemas.openxmlformats.org/officeDocument/2006/relationships/hyperlink" Target="https://ai-travel-agent-8nwx.onrender.com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92259317"/>
              </p:ext>
            </p:extLst>
          </p:nvPr>
        </p:nvGraphicFramePr>
        <p:xfrm>
          <a:off x="176463" y="2600315"/>
          <a:ext cx="11349790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334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8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6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902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Arunkumar </a:t>
                      </a:r>
                      <a:r>
                        <a:rPr lang="en-US" dirty="0" err="1"/>
                        <a:t>Panduga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arunkumar9010755083@gmail.com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9010755083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Travelling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060769" y="569931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IN" sz="2400" dirty="0"/>
              <a:t>Travel Planner Agent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C51F93-E83D-82E5-995A-54DDFA0D6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533" y="3602422"/>
            <a:ext cx="1277008" cy="116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Problem Statement: Travel Planner Agent</a:t>
            </a:r>
          </a:p>
          <a:p>
            <a:endParaRPr lang="en-IN" dirty="0"/>
          </a:p>
          <a:p>
            <a:r>
              <a:rPr lang="en-IN" b="1" dirty="0"/>
              <a:t>The Challenge</a:t>
            </a:r>
          </a:p>
          <a:p>
            <a:r>
              <a:rPr lang="en-IN" dirty="0"/>
              <a:t>Planning a trip often requires searching across multiple platforms for </a:t>
            </a:r>
            <a:r>
              <a:rPr lang="en-IN" b="1" dirty="0"/>
              <a:t>transportation options, travel duration, costs, destinations, and suitable travel plans</a:t>
            </a:r>
            <a:r>
              <a:rPr lang="en-IN" dirty="0"/>
              <a:t>. Comparing flights, trains, buses, and road trips manually can be time-consuming and confusing.</a:t>
            </a:r>
          </a:p>
          <a:p>
            <a:r>
              <a:rPr lang="en-IN" dirty="0"/>
              <a:t>Travelers may also struggle to determine which option provides the best balance between </a:t>
            </a:r>
            <a:r>
              <a:rPr lang="en-IN" b="1" dirty="0"/>
              <a:t>cost, travel time, convenience, and personal preferences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The Objective</a:t>
            </a:r>
          </a:p>
          <a:p>
            <a:endParaRPr lang="en-IN" b="1" dirty="0"/>
          </a:p>
          <a:p>
            <a:r>
              <a:rPr lang="en-IN" dirty="0"/>
              <a:t>Build an </a:t>
            </a:r>
            <a:r>
              <a:rPr lang="en-IN" b="1" dirty="0"/>
              <a:t>AI-powered Travel Agent</a:t>
            </a:r>
            <a:r>
              <a:rPr lang="en-IN" dirty="0"/>
              <a:t> that provides personalized travel recommendations and helps users plan their journeys through an interactive conversational interface.</a:t>
            </a:r>
          </a:p>
          <a:p>
            <a:r>
              <a:rPr lang="en-IN" dirty="0"/>
              <a:t>The solution should:</a:t>
            </a:r>
          </a:p>
          <a:p>
            <a:pPr lvl="0"/>
            <a:r>
              <a:rPr lang="en-IN" b="1" dirty="0"/>
              <a:t>Multi-Modal Travel Comparison</a:t>
            </a:r>
            <a:r>
              <a:rPr lang="en-IN" dirty="0"/>
              <a:t> – Compare </a:t>
            </a:r>
            <a:r>
              <a:rPr lang="en-IN" b="1" dirty="0"/>
              <a:t>flights, trains, buses, and road trips</a:t>
            </a:r>
            <a:r>
              <a:rPr lang="en-IN" dirty="0"/>
              <a:t> based on travel requirements. </a:t>
            </a:r>
          </a:p>
          <a:p>
            <a:pPr lvl="0"/>
            <a:r>
              <a:rPr lang="en-IN" b="1" dirty="0"/>
              <a:t>Personalized Recommendations</a:t>
            </a:r>
            <a:r>
              <a:rPr lang="en-IN" dirty="0"/>
              <a:t> – Recommend the most suitable travel option based on </a:t>
            </a:r>
            <a:r>
              <a:rPr lang="en-IN" b="1" dirty="0"/>
              <a:t>budget, time, and preferences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Travel Information</a:t>
            </a:r>
            <a:r>
              <a:rPr lang="en-IN" dirty="0"/>
              <a:t> – Provide estimated </a:t>
            </a:r>
            <a:r>
              <a:rPr lang="en-IN" b="1" dirty="0"/>
              <a:t>cost, duration, and convenience</a:t>
            </a:r>
            <a:r>
              <a:rPr lang="en-IN" dirty="0"/>
              <a:t> for different transportation options. </a:t>
            </a:r>
          </a:p>
          <a:p>
            <a:pPr lvl="0"/>
            <a:r>
              <a:rPr lang="en-IN" b="1" dirty="0"/>
              <a:t>Intelligent Trip Planning</a:t>
            </a:r>
            <a:r>
              <a:rPr lang="en-IN" dirty="0"/>
              <a:t> – Help users plan journeys by understanding natural-language travel requests. </a:t>
            </a:r>
          </a:p>
          <a:p>
            <a:pPr lvl="0"/>
            <a:r>
              <a:rPr lang="en-IN" b="1" dirty="0"/>
              <a:t>AI-Powered Conversation</a:t>
            </a:r>
            <a:r>
              <a:rPr lang="en-IN" dirty="0"/>
              <a:t> – Allow users to interact with the travel agent through a simple chatbot interface. </a:t>
            </a:r>
          </a:p>
          <a:p>
            <a:pPr lvl="0"/>
            <a:r>
              <a:rPr lang="en-IN" b="1" dirty="0"/>
              <a:t>Smart Recommendation</a:t>
            </a:r>
            <a:r>
              <a:rPr lang="en-IN" dirty="0"/>
              <a:t> – Identify options such as </a:t>
            </a:r>
            <a:r>
              <a:rPr lang="en-IN" b="1" dirty="0"/>
              <a:t>Budget Pick, Fastest Option, and Best Overall Choice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User-Friendly Interface</a:t>
            </a:r>
            <a:r>
              <a:rPr lang="en-IN" dirty="0"/>
              <a:t> – Present travel comparisons and recommendations in an easy-to-understand format.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8125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IN" b="1" dirty="0"/>
              <a:t>Proposed Solution – AI-Powered Travel Planner Agent</a:t>
            </a:r>
          </a:p>
          <a:p>
            <a:endParaRPr lang="en-IN" b="1" dirty="0"/>
          </a:p>
          <a:p>
            <a:r>
              <a:rPr lang="en-IN" dirty="0"/>
              <a:t>The proposed solution is an </a:t>
            </a:r>
            <a:r>
              <a:rPr lang="en-IN" b="1" dirty="0"/>
              <a:t>AI-powered Travel Agent</a:t>
            </a:r>
            <a:r>
              <a:rPr lang="en-IN" dirty="0"/>
              <a:t> built using </a:t>
            </a:r>
            <a:r>
              <a:rPr lang="en-IN" b="1" dirty="0"/>
              <a:t>IBM Bob, IBM watsonx.ai, and IBM Granite models</a:t>
            </a:r>
            <a:r>
              <a:rPr lang="en-IN" dirty="0"/>
              <a:t> to provide intelligent and personalized travel planning assistance.</a:t>
            </a:r>
          </a:p>
          <a:p>
            <a:r>
              <a:rPr lang="en-IN" dirty="0"/>
              <a:t>The system uses </a:t>
            </a:r>
            <a:r>
              <a:rPr lang="en-IN" b="1" dirty="0"/>
              <a:t>IBM Granite 4 H Small</a:t>
            </a:r>
            <a:r>
              <a:rPr lang="en-IN" dirty="0"/>
              <a:t> as the core AI model to understand user travel requirements, process natural-language queries, and generate relevant travel recommendations. Granite 4 H Small is designed for instruction following, conversational applications, tool interaction, and RAG use cases. </a:t>
            </a:r>
          </a:p>
          <a:p>
            <a:r>
              <a:rPr lang="en-IN" dirty="0"/>
              <a:t>The solution provides the following capabilities:</a:t>
            </a:r>
          </a:p>
          <a:p>
            <a:r>
              <a:rPr lang="en-IN" b="1" dirty="0"/>
              <a:t>Travel Query Understanding</a:t>
            </a:r>
            <a:r>
              <a:rPr lang="en-IN" dirty="0"/>
              <a:t> – Understands user requirements such as destination, starting location, budget, preferred transportation, and travel duration.</a:t>
            </a:r>
          </a:p>
          <a:p>
            <a:r>
              <a:rPr lang="en-IN" b="1" dirty="0"/>
              <a:t>Transportation Comparison</a:t>
            </a:r>
            <a:r>
              <a:rPr lang="en-IN" dirty="0"/>
              <a:t> – Compares different travel modes including </a:t>
            </a:r>
            <a:r>
              <a:rPr lang="en-IN" b="1" dirty="0"/>
              <a:t>flights, trains, buses, and road trips</a:t>
            </a:r>
            <a:r>
              <a:rPr lang="en-IN" dirty="0"/>
              <a:t>.</a:t>
            </a:r>
          </a:p>
          <a:p>
            <a:r>
              <a:rPr lang="en-IN" b="1" dirty="0"/>
              <a:t>Cost &amp; Duration Analysis</a:t>
            </a:r>
            <a:r>
              <a:rPr lang="en-IN" dirty="0"/>
              <a:t> – Presents estimated travel </a:t>
            </a:r>
            <a:r>
              <a:rPr lang="en-IN" b="1" dirty="0"/>
              <a:t>costs and journey durations</a:t>
            </a:r>
            <a:r>
              <a:rPr lang="en-IN" dirty="0"/>
              <a:t> to help users make informed decisions.</a:t>
            </a:r>
          </a:p>
          <a:p>
            <a:r>
              <a:rPr lang="en-IN" b="1" dirty="0"/>
              <a:t>Personalized Recommendations</a:t>
            </a:r>
            <a:r>
              <a:rPr lang="en-IN" dirty="0"/>
              <a:t> – Generates recommendations according to the user's requirements and highlights the most suitable option.</a:t>
            </a:r>
          </a:p>
          <a:p>
            <a:pPr fontAlgn="base"/>
            <a:endParaRPr lang="en-US" dirty="0"/>
          </a:p>
          <a:p>
            <a:r>
              <a:rPr lang="en-IN" b="1" dirty="0"/>
              <a:t>Conversational Travel Assistant</a:t>
            </a:r>
            <a:r>
              <a:rPr lang="en-IN" dirty="0"/>
              <a:t> – Users can ask questions naturally instead of filling out complicated travel forms.</a:t>
            </a:r>
          </a:p>
          <a:p>
            <a:r>
              <a:rPr lang="en-IN" b="1" dirty="0"/>
              <a:t>Interactive Dashboard</a:t>
            </a:r>
            <a:r>
              <a:rPr lang="en-IN" dirty="0"/>
              <a:t> – Provides a visually appealing interface with destination cards, comparison tables, recommendation cards, and an interactive chat experience.</a:t>
            </a:r>
          </a:p>
          <a:p>
            <a:r>
              <a:rPr lang="en-IN" b="1" dirty="0"/>
              <a:t>Cloud Deployment</a:t>
            </a:r>
            <a:r>
              <a:rPr lang="en-IN" dirty="0"/>
              <a:t> – The application is deployed as a Node.js web service and made publicly accessible through Render.</a:t>
            </a:r>
          </a:p>
          <a:p>
            <a:r>
              <a:rPr lang="en-IN" dirty="0"/>
              <a:t>Overall, the solution provides an </a:t>
            </a:r>
            <a:r>
              <a:rPr lang="en-IN" b="1" dirty="0"/>
              <a:t>end-to-end AI travel planning assistant</a:t>
            </a:r>
            <a:r>
              <a:rPr lang="en-IN" dirty="0"/>
              <a:t> that simplifies transportation comparison and helps users make faster and more informed travel decisions.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800" b="1" dirty="0"/>
              <a:t>IBM Bob</a:t>
            </a:r>
            <a:r>
              <a:rPr lang="en-IN" sz="1800" dirty="0"/>
              <a:t> – AI-assisted development of the Travel Agent application and frontend/backend code. IBM Bob is designed to assist across the software development lifecycle and work with real codebases. </a:t>
            </a:r>
          </a:p>
          <a:p>
            <a:pPr lvl="0"/>
            <a:endParaRPr lang="en-IN" sz="1800" dirty="0"/>
          </a:p>
          <a:p>
            <a:pPr lvl="0"/>
            <a:r>
              <a:rPr lang="en-IN" sz="1800" b="1" dirty="0"/>
              <a:t>IBM Granite 4 H Small</a:t>
            </a:r>
            <a:r>
              <a:rPr lang="en-IN" sz="1800" dirty="0"/>
              <a:t> – Core Generative AI model for understanding travel queries and generating intelligent travel recommendations. </a:t>
            </a:r>
          </a:p>
          <a:p>
            <a:pPr lvl="0"/>
            <a:endParaRPr lang="en-IN" sz="1800" dirty="0"/>
          </a:p>
          <a:p>
            <a:pPr lvl="0"/>
            <a:r>
              <a:rPr lang="en-IN" sz="1800" b="1" dirty="0"/>
              <a:t>IBM watsonx.ai / Watson Machine Learning</a:t>
            </a:r>
            <a:r>
              <a:rPr lang="en-IN" sz="1800" dirty="0"/>
              <a:t> – Provides access to the IBM Granite model and AI inference. </a:t>
            </a:r>
          </a:p>
          <a:p>
            <a:pPr lvl="0"/>
            <a:endParaRPr lang="en-IN" sz="1800" dirty="0"/>
          </a:p>
          <a:p>
            <a:pPr lvl="0"/>
            <a:r>
              <a:rPr lang="en-IN" sz="1800" b="1" dirty="0"/>
              <a:t>Node.js &amp; Express.js</a:t>
            </a:r>
            <a:r>
              <a:rPr lang="en-IN" sz="1800" dirty="0"/>
              <a:t> – Backend server that handles user requests and communicates with the IBM AI model. </a:t>
            </a:r>
          </a:p>
          <a:p>
            <a:pPr lvl="0"/>
            <a:r>
              <a:rPr lang="en-IN" sz="1800" b="1" dirty="0"/>
              <a:t>HTML, CSS &amp; JavaScript</a:t>
            </a:r>
            <a:r>
              <a:rPr lang="en-IN" sz="1800" dirty="0"/>
              <a:t> – Used to build the interactive Travel Agent user interface. </a:t>
            </a:r>
          </a:p>
          <a:p>
            <a:pPr lvl="0"/>
            <a:endParaRPr lang="en-IN" sz="1800" dirty="0"/>
          </a:p>
          <a:p>
            <a:pPr lvl="0"/>
            <a:r>
              <a:rPr lang="en-IN" sz="1800" b="1" dirty="0"/>
              <a:t>REST API</a:t>
            </a:r>
            <a:r>
              <a:rPr lang="en-IN" sz="1800" dirty="0"/>
              <a:t> – Enables communication between the frontend, backend, and IBM Granite model. </a:t>
            </a:r>
          </a:p>
          <a:p>
            <a:pPr lvl="0"/>
            <a:endParaRPr lang="en-IN" sz="1800" dirty="0"/>
          </a:p>
          <a:p>
            <a:pPr lvl="0"/>
            <a:r>
              <a:rPr lang="en-IN" sz="1800" b="1" dirty="0"/>
              <a:t>GitHub</a:t>
            </a:r>
            <a:r>
              <a:rPr lang="en-IN" sz="1800" dirty="0"/>
              <a:t> – Used for source-code management and version control. </a:t>
            </a:r>
          </a:p>
          <a:p>
            <a:pPr lvl="0"/>
            <a:endParaRPr lang="en-IN" sz="1800" dirty="0"/>
          </a:p>
          <a:p>
            <a:pPr lvl="0"/>
            <a:r>
              <a:rPr lang="en-IN" sz="1800" b="1" dirty="0"/>
              <a:t>Render</a:t>
            </a:r>
            <a:r>
              <a:rPr lang="en-IN" sz="1800" dirty="0"/>
              <a:t> – Used to deploy the Node.js application and make the Travel Agent publicly accessible.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App.py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Requirements.txt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Style.css 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.env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Index.html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F38907-89DE-28F7-316F-44E7DAB93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215" y="1860506"/>
            <a:ext cx="7868367" cy="451286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FFF7BC6-93D0-8D42-34B7-C226B1B96C2D}"/>
              </a:ext>
            </a:extLst>
          </p:cNvPr>
          <p:cNvSpPr/>
          <p:nvPr/>
        </p:nvSpPr>
        <p:spPr>
          <a:xfrm>
            <a:off x="4250700" y="2029968"/>
            <a:ext cx="5908284" cy="317232"/>
          </a:xfrm>
          <a:prstGeom prst="rect">
            <a:avLst/>
          </a:prstGeom>
          <a:solidFill>
            <a:srgbClr val="E71224">
              <a:alpha val="5000"/>
            </a:srgbClr>
          </a:solidFill>
          <a:ln w="72000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6C81E80-ED7B-4240-A8EE-0221D9ACD900}"/>
              </a:ext>
            </a:extLst>
          </p:cNvPr>
          <p:cNvSpPr/>
          <p:nvPr/>
        </p:nvSpPr>
        <p:spPr>
          <a:xfrm rot="8280234">
            <a:off x="7719727" y="1520573"/>
            <a:ext cx="923544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696AC1-6A6D-7898-4214-327D2A9E70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418" y="977462"/>
            <a:ext cx="11573165" cy="539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CF6905-7EA2-AD12-2C72-5067B9B2B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490" y="1048406"/>
            <a:ext cx="10328165" cy="580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6136054-E153-35C8-A56B-FAE7AFFF0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54" y="480848"/>
            <a:ext cx="11337159" cy="637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D5C081-1B54-66C2-F619-CFF514215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14" y="771748"/>
            <a:ext cx="10117518" cy="608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732151" y="1167493"/>
            <a:ext cx="740664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Role of Agentic AI in AI Travel Planner Agent</a:t>
            </a:r>
          </a:p>
          <a:p>
            <a:endParaRPr lang="en-IN" dirty="0"/>
          </a:p>
          <a:p>
            <a:r>
              <a:rPr lang="en-IN" dirty="0"/>
              <a:t>Agentic AI enables the Travel Agent to go beyond a simple chatbot by </a:t>
            </a:r>
            <a:r>
              <a:rPr lang="en-IN" b="1" dirty="0"/>
              <a:t>understanding travel goals, </a:t>
            </a:r>
            <a:r>
              <a:rPr lang="en-IN" b="1" dirty="0" err="1"/>
              <a:t>analyzing</a:t>
            </a:r>
            <a:r>
              <a:rPr lang="en-IN" b="1" dirty="0"/>
              <a:t> user requirements, comparing transportation options, and generating actionable recommendations</a:t>
            </a:r>
            <a:r>
              <a:rPr lang="en-IN" dirty="0"/>
              <a:t>. The system uses </a:t>
            </a:r>
            <a:r>
              <a:rPr lang="en-IN" b="1" dirty="0"/>
              <a:t>IBM Granite 4 H Small</a:t>
            </a:r>
            <a:r>
              <a:rPr lang="en-IN" dirty="0"/>
              <a:t> to understand natural-language travel queries and produce context-aware responses. Granite 4 H Small is designed for instruction following and agentic tasks such as tool use and structured reasoning. </a:t>
            </a:r>
          </a:p>
          <a:p>
            <a:r>
              <a:rPr lang="en-IN" dirty="0"/>
              <a:t>The Travel Agent </a:t>
            </a:r>
            <a:r>
              <a:rPr lang="en-IN" dirty="0" err="1"/>
              <a:t>analyzes</a:t>
            </a:r>
            <a:r>
              <a:rPr lang="en-IN" dirty="0"/>
              <a:t> important factors such as </a:t>
            </a:r>
            <a:r>
              <a:rPr lang="en-IN" b="1" dirty="0"/>
              <a:t>destination, travel preference, budget, journey duration, and transportation mode</a:t>
            </a:r>
            <a:r>
              <a:rPr lang="en-IN" dirty="0"/>
              <a:t> to generate relevant travel suggestions.</a:t>
            </a:r>
          </a:p>
          <a:p>
            <a:r>
              <a:rPr lang="en-IN" dirty="0"/>
              <a:t>The system performs several intelligent tasks:</a:t>
            </a:r>
          </a:p>
          <a:p>
            <a:pPr lvl="0"/>
            <a:r>
              <a:rPr lang="en-IN" b="1" dirty="0"/>
              <a:t>Goal Understanding</a:t>
            </a:r>
            <a:r>
              <a:rPr lang="en-IN" dirty="0"/>
              <a:t> – Identifies what the </a:t>
            </a:r>
            <a:r>
              <a:rPr lang="en-IN" dirty="0" err="1"/>
              <a:t>traveler</a:t>
            </a:r>
            <a:r>
              <a:rPr lang="en-IN" dirty="0"/>
              <a:t> wants, such as destination, budget, duration, and preferred travel mode. </a:t>
            </a:r>
          </a:p>
          <a:p>
            <a:pPr lvl="0"/>
            <a:r>
              <a:rPr lang="en-IN" b="1" dirty="0"/>
              <a:t>Travel Comparison</a:t>
            </a:r>
            <a:r>
              <a:rPr lang="en-IN" dirty="0"/>
              <a:t> – Compares </a:t>
            </a:r>
            <a:r>
              <a:rPr lang="en-IN" b="1" dirty="0"/>
              <a:t>flights, trains, buses, and road trips</a:t>
            </a:r>
            <a:r>
              <a:rPr lang="en-IN" dirty="0"/>
              <a:t> based on estimated cost and travel time. </a:t>
            </a:r>
          </a:p>
          <a:p>
            <a:pPr lvl="0"/>
            <a:r>
              <a:rPr lang="en-IN" b="1" dirty="0"/>
              <a:t>Decision Support</a:t>
            </a:r>
            <a:r>
              <a:rPr lang="en-IN" dirty="0"/>
              <a:t> – Highlights the </a:t>
            </a:r>
            <a:r>
              <a:rPr lang="en-IN" b="1" dirty="0"/>
              <a:t>Best Overall Option, Budget Pick, and Fastest Option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Context Awareness</a:t>
            </a:r>
            <a:r>
              <a:rPr lang="en-IN" dirty="0"/>
              <a:t> – Uses the conversation history and user's current request to generate more relevant responses. </a:t>
            </a:r>
          </a:p>
          <a:p>
            <a:pPr lvl="0"/>
            <a:r>
              <a:rPr lang="en-IN" b="1" dirty="0"/>
              <a:t>Personalized Recommendations</a:t>
            </a:r>
            <a:r>
              <a:rPr lang="en-IN" dirty="0"/>
              <a:t> – Adapts recommendations according to the travel requirements provided by the user. </a:t>
            </a:r>
          </a:p>
          <a:p>
            <a:pPr lvl="0"/>
            <a:r>
              <a:rPr lang="en-IN" b="1" dirty="0"/>
              <a:t>Natural-Language Interaction</a:t>
            </a:r>
            <a:r>
              <a:rPr lang="en-IN" dirty="0"/>
              <a:t> – Allows users to communicate with the system using normal conversational questions instead of complex forms. </a:t>
            </a:r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11,761 token are used</a:t>
            </a: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29AF1D-88C4-87E5-74DF-4E97121E0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40" y="2453592"/>
            <a:ext cx="5095875" cy="2857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After the Prompt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D4EB32-EE72-8CB4-D6BD-0906CD99B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40" y="2027252"/>
            <a:ext cx="12077759" cy="483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977A3-5FA0-8FF5-E1D1-86C9ED67651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7597D0-C879-69DB-0F6C-F5221B466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" y="685532"/>
            <a:ext cx="11948160" cy="617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2D13D-6B69-03D8-BA22-587B943A257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0D145E-8FEB-8F51-ACBC-5D2104AF0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526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5001C-8880-8B09-8704-29D3F62E7A03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E89D5D-0D24-EB4C-1EBB-179E4810F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17634"/>
            <a:ext cx="12184380" cy="638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The proposed AI Travel Agent stands out by combining conversational AI, intelligent travel comparison, and personalized recommendations into a single travel-planning system.</a:t>
            </a:r>
          </a:p>
          <a:p>
            <a:endParaRPr lang="en-IN" sz="1800" dirty="0"/>
          </a:p>
          <a:p>
            <a:r>
              <a:rPr lang="en-IN" sz="1800" b="1" dirty="0"/>
              <a:t>Conversational Travel Planning</a:t>
            </a:r>
            <a:r>
              <a:rPr lang="en-IN" sz="1800" dirty="0"/>
              <a:t> – Users can describe their travel requirements naturally instead of filling out complex forms. The AI understands destinations, travel preferences, duration, and budget-related requests.</a:t>
            </a:r>
          </a:p>
          <a:p>
            <a:r>
              <a:rPr lang="en-IN" sz="1800" b="1" dirty="0"/>
              <a:t>Multi-Mode Travel Comparison</a:t>
            </a:r>
            <a:r>
              <a:rPr lang="en-IN" sz="1800" dirty="0"/>
              <a:t> – The system compares </a:t>
            </a:r>
            <a:r>
              <a:rPr lang="en-IN" sz="1800" b="1" dirty="0"/>
              <a:t>flights, trains, buses, and road trips</a:t>
            </a:r>
            <a:r>
              <a:rPr lang="en-IN" sz="1800" dirty="0"/>
              <a:t> within a single interface, making it easier to evaluate different transportation choices.</a:t>
            </a:r>
          </a:p>
          <a:p>
            <a:r>
              <a:rPr lang="en-IN" sz="1800" b="1" dirty="0"/>
              <a:t>Intelligent Decision Support</a:t>
            </a:r>
            <a:r>
              <a:rPr lang="en-IN" sz="1800" dirty="0"/>
              <a:t> – Instead of simply listing options, the system highlights </a:t>
            </a:r>
            <a:r>
              <a:rPr lang="en-IN" sz="1800" b="1" dirty="0"/>
              <a:t>Best Overall Option, Budget Pick, and Fastest Option</a:t>
            </a:r>
            <a:r>
              <a:rPr lang="en-IN" sz="1800" dirty="0"/>
              <a:t> to help users make a quicker decision.</a:t>
            </a:r>
          </a:p>
          <a:p>
            <a:r>
              <a:rPr lang="en-IN" sz="1800" b="1" dirty="0"/>
              <a:t>Personalized Recommendations</a:t>
            </a:r>
            <a:r>
              <a:rPr lang="en-IN" sz="1800" dirty="0"/>
              <a:t> – Travel suggestions are generated according to the user's requirements, such as preferred destination, budget, travel time, and transportation preference.</a:t>
            </a:r>
          </a:p>
          <a:p>
            <a:r>
              <a:rPr lang="en-IN" sz="1800" b="1" dirty="0"/>
              <a:t>Natural-Language AI Interaction</a:t>
            </a:r>
            <a:r>
              <a:rPr lang="en-IN" sz="1800" dirty="0"/>
              <a:t> – Powered by </a:t>
            </a:r>
            <a:r>
              <a:rPr lang="en-IN" sz="1800" b="1" dirty="0"/>
              <a:t>IBM Granite 4 H Small</a:t>
            </a:r>
            <a:r>
              <a:rPr lang="en-IN" sz="1800" dirty="0"/>
              <a:t>, the application can understand conversational travel questions and generate structured travel recommendations. Granite 4 H Small supports instruction following and tool-calling capabilities suited to AI assistant and agentic applications. </a:t>
            </a:r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2000" b="1" dirty="0"/>
              <a:t>GitHub &amp; Live Application</a:t>
            </a:r>
          </a:p>
          <a:p>
            <a:endParaRPr lang="en-IN" sz="2000" b="1" dirty="0"/>
          </a:p>
          <a:p>
            <a:r>
              <a:rPr lang="en-IN" sz="2000" b="1" dirty="0"/>
              <a:t>GitHub Repository</a:t>
            </a:r>
          </a:p>
          <a:p>
            <a:r>
              <a:rPr lang="en-IN" sz="2000" dirty="0"/>
              <a:t>🔗 </a:t>
            </a:r>
            <a:r>
              <a:rPr lang="en-IN" dirty="0">
                <a:hlinkClick r:id="rId3"/>
              </a:rPr>
              <a:t>https://github.com/pandugaArunkumar/ai-travel-agent</a:t>
            </a:r>
            <a:endParaRPr lang="en-IN" dirty="0"/>
          </a:p>
          <a:p>
            <a:endParaRPr lang="en-IN" sz="2000" dirty="0"/>
          </a:p>
          <a:p>
            <a:r>
              <a:rPr lang="en-IN" sz="2000" b="1" dirty="0"/>
              <a:t>Live Application</a:t>
            </a:r>
          </a:p>
          <a:p>
            <a:r>
              <a:rPr lang="en-IN" sz="2000" dirty="0"/>
              <a:t>🚀 </a:t>
            </a:r>
            <a:r>
              <a:rPr lang="en-IN" dirty="0">
                <a:hlinkClick r:id="rId4"/>
              </a:rPr>
              <a:t>https://ai-travel-agent-8nwx.onrender.com</a:t>
            </a:r>
            <a:endParaRPr lang="en-IN" dirty="0"/>
          </a:p>
          <a:p>
            <a:endParaRPr lang="en-IN" sz="2000" dirty="0"/>
          </a:p>
          <a:p>
            <a:r>
              <a:rPr lang="en-IN" sz="2000" b="1" dirty="0"/>
              <a:t>Project Contents</a:t>
            </a:r>
          </a:p>
          <a:p>
            <a:endParaRPr lang="en-IN" sz="2000" b="1" dirty="0"/>
          </a:p>
          <a:p>
            <a:pPr lvl="0"/>
            <a:r>
              <a:rPr lang="en-IN" dirty="0"/>
              <a:t>server.js</a:t>
            </a:r>
            <a:r>
              <a:rPr lang="en-IN" sz="2000" dirty="0"/>
              <a:t> — Node.js + Express backend &amp; IBM Granite integration </a:t>
            </a:r>
          </a:p>
          <a:p>
            <a:pPr lvl="0"/>
            <a:r>
              <a:rPr lang="en-IN" dirty="0"/>
              <a:t>public/index.html</a:t>
            </a:r>
            <a:r>
              <a:rPr lang="en-IN" sz="2000" dirty="0"/>
              <a:t> — Travel Agent UI </a:t>
            </a:r>
          </a:p>
          <a:p>
            <a:pPr lvl="0"/>
            <a:r>
              <a:rPr lang="en-IN" dirty="0" err="1"/>
              <a:t>package.json</a:t>
            </a:r>
            <a:r>
              <a:rPr lang="en-IN" sz="2000" dirty="0"/>
              <a:t> — Project dependencies </a:t>
            </a:r>
          </a:p>
          <a:p>
            <a:pPr lvl="0"/>
            <a:r>
              <a:rPr lang="en-IN" dirty="0"/>
              <a:t>README.md</a:t>
            </a:r>
            <a:r>
              <a:rPr lang="en-IN" sz="2000" dirty="0"/>
              <a:t> — Project documentation 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5215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2000" b="1" dirty="0"/>
              <a:t>1. Real-Time Travel Data Integration</a:t>
            </a:r>
          </a:p>
          <a:p>
            <a:r>
              <a:rPr lang="en-IN" sz="2000" dirty="0"/>
              <a:t>The Travel Agent can be integrated with real-time APIs for </a:t>
            </a:r>
            <a:r>
              <a:rPr lang="en-IN" sz="2000" b="1" dirty="0"/>
              <a:t>flight, train, bus, and hotel availability, prices, schedules, and booking information</a:t>
            </a:r>
            <a:r>
              <a:rPr lang="en-IN" sz="2000" dirty="0"/>
              <a:t>. This would allow the system to provide live travel options instead of estimated information.</a:t>
            </a:r>
          </a:p>
          <a:p>
            <a:r>
              <a:rPr lang="en-IN" sz="2000" b="1" dirty="0"/>
              <a:t>2. Hotel &amp; Accommodation Recommendations</a:t>
            </a:r>
          </a:p>
          <a:p>
            <a:r>
              <a:rPr lang="en-IN" sz="2000" dirty="0"/>
              <a:t>The system can be extended to recommend </a:t>
            </a:r>
            <a:r>
              <a:rPr lang="en-IN" sz="2000" b="1" dirty="0"/>
              <a:t>hotels, hostels, and other accommodations</a:t>
            </a:r>
            <a:r>
              <a:rPr lang="en-IN" sz="2000" dirty="0"/>
              <a:t> based on destination, budget, location, ratings, and user preferences.</a:t>
            </a:r>
          </a:p>
          <a:p>
            <a:r>
              <a:rPr lang="en-IN" sz="2000" b="1" dirty="0"/>
              <a:t>3. Complete AI Trip Planner</a:t>
            </a:r>
          </a:p>
          <a:p>
            <a:r>
              <a:rPr lang="en-IN" sz="2000" dirty="0"/>
              <a:t>Future versions can generate a complete </a:t>
            </a:r>
            <a:r>
              <a:rPr lang="en-IN" sz="2000" b="1" dirty="0"/>
              <a:t>day-by-day itinerary</a:t>
            </a:r>
            <a:r>
              <a:rPr lang="en-IN" sz="2000" dirty="0"/>
              <a:t> including transportation, accommodation, sightseeing locations, restaurants, estimated expenses, and recommended activities.</a:t>
            </a:r>
          </a:p>
          <a:p>
            <a:r>
              <a:rPr lang="en-IN" sz="2000" b="1" dirty="0"/>
              <a:t>4. Voice &amp; Multilingual Travel Assistant</a:t>
            </a:r>
          </a:p>
          <a:p>
            <a:r>
              <a:rPr lang="en-IN" sz="2000" dirty="0"/>
              <a:t>Voice interaction and </a:t>
            </a:r>
            <a:r>
              <a:rPr lang="en-IN" sz="2000" b="1" dirty="0"/>
              <a:t>multilingual support</a:t>
            </a:r>
            <a:r>
              <a:rPr lang="en-IN" sz="2000" dirty="0"/>
              <a:t> can be added so users can communicate with the Travel Agent in their preferred language through speech or text.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7E3ECE-0705-667C-24C1-17858C5DA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770563"/>
            <a:ext cx="9156382" cy="594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8A7D32-5BB1-290F-0AE3-EAB817228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33" y="800470"/>
            <a:ext cx="10736930" cy="573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5FE26D-D6BE-3FE1-16C6-3206F966D0F6}"/>
              </a:ext>
            </a:extLst>
          </p:cNvPr>
          <p:cNvSpPr txBox="1"/>
          <p:nvPr/>
        </p:nvSpPr>
        <p:spPr>
          <a:xfrm>
            <a:off x="3273552" y="3244334"/>
            <a:ext cx="3651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THANK YOU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2A75EA04-0AE5-4074-9538-7DA6C138DAE9}" vid="{E39B6906-D52F-4B95-B43C-27F512CB479C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96</TotalTime>
  <Words>1469</Words>
  <Application>Microsoft Office PowerPoint</Application>
  <PresentationFormat>Widescreen</PresentationFormat>
  <Paragraphs>170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Neue Haas Grotesk Text Pro</vt:lpstr>
      <vt:lpstr>Times New Roman</vt:lpstr>
      <vt:lpstr>Axis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Arun Kumar</cp:lastModifiedBy>
  <cp:revision>21</cp:revision>
  <dcterms:created xsi:type="dcterms:W3CDTF">2025-07-08T05:06:56Z</dcterms:created>
  <dcterms:modified xsi:type="dcterms:W3CDTF">2026-09-06T18:50:33Z</dcterms:modified>
</cp:coreProperties>
</file>